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8" r:id="rId3"/>
    <p:sldId id="273" r:id="rId4"/>
    <p:sldId id="274" r:id="rId5"/>
    <p:sldId id="275" r:id="rId6"/>
    <p:sldId id="272" r:id="rId7"/>
    <p:sldId id="276" r:id="rId8"/>
    <p:sldId id="260" r:id="rId9"/>
    <p:sldId id="258" r:id="rId10"/>
    <p:sldId id="261" r:id="rId11"/>
    <p:sldId id="262" r:id="rId12"/>
    <p:sldId id="265" r:id="rId13"/>
    <p:sldId id="267" r:id="rId14"/>
    <p:sldId id="266" r:id="rId15"/>
    <p:sldId id="277" r:id="rId20"/>
    <p:sldId id="278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1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slide" Target="slides/slide15.xml"/><Relationship Id="rId21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44EE8-9728-4757-9996-A1FB9AB0A83B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228F0-8A7A-4066-B502-AE5099D9FFD7}" type="slidenum">
              <a:rPr lang="en-US" smtClean="0"/>
              <a:t>‹nº›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044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44EE8-9728-4757-9996-A1FB9AB0A83B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228F0-8A7A-4066-B502-AE5099D9FFD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8467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44EE8-9728-4757-9996-A1FB9AB0A83B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228F0-8A7A-4066-B502-AE5099D9FFD7}" type="slidenum">
              <a:rPr lang="en-US" smtClean="0"/>
              <a:t>‹nº›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3759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44EE8-9728-4757-9996-A1FB9AB0A83B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228F0-8A7A-4066-B502-AE5099D9FFD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7276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44EE8-9728-4757-9996-A1FB9AB0A83B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228F0-8A7A-4066-B502-AE5099D9FFD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39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44EE8-9728-4757-9996-A1FB9AB0A83B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228F0-8A7A-4066-B502-AE5099D9FFD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5046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44EE8-9728-4757-9996-A1FB9AB0A83B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228F0-8A7A-4066-B502-AE5099D9FFD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86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F2544EE8-9728-4757-9996-A1FB9AB0A83B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5C228F0-8A7A-4066-B502-AE5099D9FFD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7968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44EE8-9728-4757-9996-A1FB9AB0A83B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228F0-8A7A-4066-B502-AE5099D9FFD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441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44EE8-9728-4757-9996-A1FB9AB0A83B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228F0-8A7A-4066-B502-AE5099D9FFD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4530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44EE8-9728-4757-9996-A1FB9AB0A83B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228F0-8A7A-4066-B502-AE5099D9FFD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04897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F2544EE8-9728-4757-9996-A1FB9AB0A83B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05C228F0-8A7A-4066-B502-AE5099D9FFD7}" type="slidenum">
              <a:rPr lang="en-US" smtClean="0"/>
              <a:t>‹nº›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1602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99000"/>
                <a:satMod val="140000"/>
              </a:schemeClr>
            </a:gs>
            <a:gs pos="65000">
              <a:schemeClr val="bg2">
                <a:tint val="100000"/>
                <a:shade val="80000"/>
                <a:satMod val="130000"/>
              </a:schemeClr>
            </a:gs>
            <a:gs pos="100000">
              <a:schemeClr val="bg2">
                <a:tint val="100000"/>
                <a:shade val="48000"/>
                <a:satMod val="120000"/>
              </a:schemeClr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7">
            <a:extLst>
              <a:ext uri="{FF2B5EF4-FFF2-40B4-BE49-F238E27FC236}">
                <a16:creationId xmlns:a16="http://schemas.microsoft.com/office/drawing/2014/main" id="{52C0B2E1-0268-42EC-ABD3-94F81A05BC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1" name="Rectangle 9">
            <a:extLst>
              <a:ext uri="{FF2B5EF4-FFF2-40B4-BE49-F238E27FC236}">
                <a16:creationId xmlns:a16="http://schemas.microsoft.com/office/drawing/2014/main" id="{7D2256B4-48EA-40FC-BBC0-AA1EE6E008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22" name="Straight Connector 11">
            <a:extLst>
              <a:ext uri="{FF2B5EF4-FFF2-40B4-BE49-F238E27FC236}">
                <a16:creationId xmlns:a16="http://schemas.microsoft.com/office/drawing/2014/main" id="{3D44BCCA-102D-4A9D-B1E4-2450CAF0B0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3" name="Rectangle 13">
            <a:extLst>
              <a:ext uri="{FF2B5EF4-FFF2-40B4-BE49-F238E27FC236}">
                <a16:creationId xmlns:a16="http://schemas.microsoft.com/office/drawing/2014/main" id="{8C6E698C-8155-4B8B-BDC9-B7299772B5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5">
            <a:extLst>
              <a:ext uri="{FF2B5EF4-FFF2-40B4-BE49-F238E27FC236}">
                <a16:creationId xmlns:a16="http://schemas.microsoft.com/office/drawing/2014/main" id="{0EEF5601-A8BC-411D-AA64-3E79320BA1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458473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5" name="Rectangle 17">
            <a:extLst>
              <a:ext uri="{FF2B5EF4-FFF2-40B4-BE49-F238E27FC236}">
                <a16:creationId xmlns:a16="http://schemas.microsoft.com/office/drawing/2014/main" id="{33209156-242F-4B26-8D07-CEB2B68A9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4734" y="0"/>
            <a:ext cx="760726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CB0E07B-4BE4-7B9D-3E1B-2EB5AC729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841" y="736600"/>
            <a:ext cx="4230617" cy="49276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6800" dirty="0">
                <a:solidFill>
                  <a:srgbClr val="FFFFFF"/>
                </a:solidFill>
              </a:rPr>
              <a:t>MLP</a:t>
            </a:r>
            <a:br>
              <a:rPr lang="en-US" sz="6800" dirty="0">
                <a:solidFill>
                  <a:srgbClr val="FFFFFF"/>
                </a:solidFill>
              </a:rPr>
            </a:br>
            <a:br>
              <a:rPr lang="en-US" sz="6800" dirty="0">
                <a:solidFill>
                  <a:srgbClr val="FFFFFF"/>
                </a:solidFill>
              </a:rPr>
            </a:br>
            <a:br>
              <a:rPr lang="en-US" sz="6800" dirty="0">
                <a:solidFill>
                  <a:srgbClr val="FFFFFF"/>
                </a:solidFill>
              </a:rPr>
            </a:br>
            <a:r>
              <a:rPr lang="en-US" sz="4400" dirty="0" err="1">
                <a:solidFill>
                  <a:srgbClr val="FFFFFF"/>
                </a:solidFill>
              </a:rPr>
              <a:t>Implementações</a:t>
            </a:r>
            <a:endParaRPr lang="en-US" sz="6800" dirty="0">
              <a:solidFill>
                <a:srgbClr val="FFFFFF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96DD6B0-3364-2E50-0E57-6D939B78FD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93170" y="1739107"/>
            <a:ext cx="6987234" cy="443905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800" dirty="0">
                <a:solidFill>
                  <a:srgbClr val="FFFFFF"/>
                </a:solidFill>
              </a:rPr>
              <a:t>No. USP – </a:t>
            </a:r>
            <a:r>
              <a:rPr lang="en-US" sz="2800" dirty="0" err="1">
                <a:solidFill>
                  <a:srgbClr val="FFFFFF"/>
                </a:solidFill>
              </a:rPr>
              <a:t>nome</a:t>
            </a:r>
            <a:r>
              <a:rPr lang="en-US" sz="2800" dirty="0">
                <a:solidFill>
                  <a:srgbClr val="FFFFFF"/>
                </a:solidFill>
              </a:rPr>
              <a:t> </a:t>
            </a:r>
            <a:r>
              <a:rPr lang="en-US" sz="2800" dirty="0" err="1">
                <a:solidFill>
                  <a:srgbClr val="FFFFFF"/>
                </a:solidFill>
              </a:rPr>
              <a:t>integrante</a:t>
            </a:r>
            <a:r>
              <a:rPr lang="en-US" sz="2800" dirty="0">
                <a:solidFill>
                  <a:srgbClr val="FFFFFF"/>
                </a:solidFill>
              </a:rPr>
              <a:t> 1 </a:t>
            </a:r>
            <a:r>
              <a:rPr lang="en-US" sz="2800" i="1" dirty="0" err="1">
                <a:solidFill>
                  <a:srgbClr val="FFFFFF"/>
                </a:solidFill>
              </a:rPr>
              <a:t>apresentador</a:t>
            </a:r>
            <a:endParaRPr lang="en-US" sz="2800" i="1" dirty="0">
              <a:solidFill>
                <a:srgbClr val="FFFFFF"/>
              </a:solidFill>
            </a:endParaRPr>
          </a:p>
          <a:p>
            <a:r>
              <a:rPr lang="en-US" sz="2800" dirty="0">
                <a:solidFill>
                  <a:srgbClr val="FFFFFF"/>
                </a:solidFill>
              </a:rPr>
              <a:t>No. USP – </a:t>
            </a:r>
            <a:r>
              <a:rPr lang="en-US" sz="2800" dirty="0" err="1">
                <a:solidFill>
                  <a:srgbClr val="FFFFFF"/>
                </a:solidFill>
              </a:rPr>
              <a:t>nome</a:t>
            </a:r>
            <a:r>
              <a:rPr lang="en-US" sz="2800" dirty="0">
                <a:solidFill>
                  <a:srgbClr val="FFFFFF"/>
                </a:solidFill>
              </a:rPr>
              <a:t> </a:t>
            </a:r>
            <a:r>
              <a:rPr lang="en-US" sz="2800" dirty="0" err="1">
                <a:solidFill>
                  <a:srgbClr val="FFFFFF"/>
                </a:solidFill>
              </a:rPr>
              <a:t>integrante</a:t>
            </a:r>
            <a:r>
              <a:rPr lang="en-US" sz="2800" dirty="0">
                <a:solidFill>
                  <a:srgbClr val="FFFFFF"/>
                </a:solidFill>
              </a:rPr>
              <a:t> 2</a:t>
            </a:r>
          </a:p>
          <a:p>
            <a:r>
              <a:rPr lang="en-US" sz="2800" dirty="0">
                <a:solidFill>
                  <a:srgbClr val="FFFFFF"/>
                </a:solidFill>
              </a:rPr>
              <a:t>No. USP – </a:t>
            </a:r>
            <a:r>
              <a:rPr lang="en-US" sz="2800" dirty="0" err="1">
                <a:solidFill>
                  <a:srgbClr val="FFFFFF"/>
                </a:solidFill>
              </a:rPr>
              <a:t>nome</a:t>
            </a:r>
            <a:r>
              <a:rPr lang="en-US" sz="2800" dirty="0">
                <a:solidFill>
                  <a:srgbClr val="FFFFFF"/>
                </a:solidFill>
              </a:rPr>
              <a:t> </a:t>
            </a:r>
            <a:r>
              <a:rPr lang="en-US" sz="2800" dirty="0" err="1">
                <a:solidFill>
                  <a:srgbClr val="FFFFFF"/>
                </a:solidFill>
              </a:rPr>
              <a:t>integrante</a:t>
            </a:r>
            <a:r>
              <a:rPr lang="en-US" sz="2800" dirty="0">
                <a:solidFill>
                  <a:srgbClr val="FFFFFF"/>
                </a:solidFill>
              </a:rPr>
              <a:t> 3</a:t>
            </a:r>
          </a:p>
          <a:p>
            <a:r>
              <a:rPr lang="en-US" sz="2800" dirty="0">
                <a:solidFill>
                  <a:srgbClr val="FFFFFF"/>
                </a:solidFill>
              </a:rPr>
              <a:t>No. USP – </a:t>
            </a:r>
            <a:r>
              <a:rPr lang="en-US" sz="2800" dirty="0" err="1">
                <a:solidFill>
                  <a:srgbClr val="FFFFFF"/>
                </a:solidFill>
              </a:rPr>
              <a:t>nome</a:t>
            </a:r>
            <a:r>
              <a:rPr lang="en-US" sz="2800" dirty="0">
                <a:solidFill>
                  <a:srgbClr val="FFFFFF"/>
                </a:solidFill>
              </a:rPr>
              <a:t> </a:t>
            </a:r>
            <a:r>
              <a:rPr lang="en-US" sz="2800" dirty="0" err="1">
                <a:solidFill>
                  <a:srgbClr val="FFFFFF"/>
                </a:solidFill>
              </a:rPr>
              <a:t>integrante</a:t>
            </a:r>
            <a:r>
              <a:rPr lang="en-US" sz="2800" dirty="0">
                <a:solidFill>
                  <a:srgbClr val="FFFFFF"/>
                </a:solidFill>
              </a:rPr>
              <a:t> 4</a:t>
            </a:r>
          </a:p>
          <a:p>
            <a:r>
              <a:rPr lang="en-US" sz="2800" dirty="0">
                <a:solidFill>
                  <a:srgbClr val="FFFFFF"/>
                </a:solidFill>
              </a:rPr>
              <a:t>No. USP – </a:t>
            </a:r>
            <a:r>
              <a:rPr lang="en-US" sz="2800" dirty="0" err="1">
                <a:solidFill>
                  <a:srgbClr val="FFFFFF"/>
                </a:solidFill>
              </a:rPr>
              <a:t>nome</a:t>
            </a:r>
            <a:r>
              <a:rPr lang="en-US" sz="2800" dirty="0">
                <a:solidFill>
                  <a:srgbClr val="FFFFFF"/>
                </a:solidFill>
              </a:rPr>
              <a:t> </a:t>
            </a:r>
            <a:r>
              <a:rPr lang="en-US" sz="2800" dirty="0" err="1">
                <a:solidFill>
                  <a:srgbClr val="FFFFFF"/>
                </a:solidFill>
              </a:rPr>
              <a:t>integrante</a:t>
            </a:r>
            <a:r>
              <a:rPr lang="en-US" sz="2800" dirty="0">
                <a:solidFill>
                  <a:srgbClr val="FFFFFF"/>
                </a:solidFill>
              </a:rPr>
              <a:t> 5 </a:t>
            </a:r>
            <a:r>
              <a:rPr lang="en-US" sz="2800" i="1" dirty="0" err="1">
                <a:solidFill>
                  <a:srgbClr val="FFFFFF"/>
                </a:solidFill>
              </a:rPr>
              <a:t>apresentadorA</a:t>
            </a:r>
            <a:endParaRPr lang="en-US" sz="2800" i="1" dirty="0">
              <a:solidFill>
                <a:srgbClr val="FFFFFF"/>
              </a:solidFill>
            </a:endParaRPr>
          </a:p>
          <a:p>
            <a:r>
              <a:rPr lang="en-US" sz="2800" dirty="0">
                <a:solidFill>
                  <a:srgbClr val="FFFFFF"/>
                </a:solidFill>
              </a:rPr>
              <a:t>No. USP – </a:t>
            </a:r>
            <a:r>
              <a:rPr lang="en-US" sz="2800" dirty="0" err="1">
                <a:solidFill>
                  <a:srgbClr val="FFFFFF"/>
                </a:solidFill>
              </a:rPr>
              <a:t>nome</a:t>
            </a:r>
            <a:r>
              <a:rPr lang="en-US" sz="2800" dirty="0">
                <a:solidFill>
                  <a:srgbClr val="FFFFFF"/>
                </a:solidFill>
              </a:rPr>
              <a:t> </a:t>
            </a:r>
            <a:r>
              <a:rPr lang="en-US" sz="2800" dirty="0" err="1">
                <a:solidFill>
                  <a:srgbClr val="FFFFFF"/>
                </a:solidFill>
              </a:rPr>
              <a:t>integrante</a:t>
            </a:r>
            <a:r>
              <a:rPr lang="en-US" sz="2800" dirty="0">
                <a:solidFill>
                  <a:srgbClr val="FFFFFF"/>
                </a:solidFill>
              </a:rPr>
              <a:t> 6</a:t>
            </a:r>
          </a:p>
          <a:p>
            <a:endParaRPr lang="en-US" sz="2800" dirty="0">
              <a:solidFill>
                <a:srgbClr val="FFFFFF"/>
              </a:solidFill>
            </a:endParaRPr>
          </a:p>
          <a:p>
            <a:endParaRPr lang="en-US" sz="2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49987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53EEBA-EFA2-8A07-87E2-92DB0257E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Estruturas de dados e programação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749808" y="1856232"/>
            <a:ext cx="5394960" cy="4224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04682"/>
                </a:solidFill>
                <a:latin typeface="Calibri"/>
              </a:rPr>
              <a:t>Estrutura de programação: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E1E1E"/>
                </a:solidFill>
                <a:latin typeface="Calibri"/>
              </a:rPr>
              <a:t>Todos os dados são manipulados como arrays NumPy bidimensionais. X tem shape (n_amostras, 120): cada linha é uma imagem de letra achatada. O vetor y tem shape (n_amostras,) com o índice da classe (0=A … 25=Z).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E1E1E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4682"/>
                </a:solidFill>
                <a:latin typeface="Calibri"/>
              </a:rPr>
              <a:t>Camada de Entrada — 120 neurônios: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E1E1E"/>
                </a:solidFill>
                <a:latin typeface="Calibri"/>
              </a:rPr>
              <a:t>Cada neurônio recebe o valor de um pixel da imagem (0 ou 1). A rede aprende quais padrões de pixels ativam cada letra. W1 (120×64) e b1 (1×64) inicializados com Xavier Uniform.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E1E1E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4682"/>
                </a:solidFill>
                <a:latin typeface="Calibri"/>
              </a:rPr>
              <a:t>Camada Oculta — 64 neurônios: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E1E1E"/>
                </a:solidFill>
                <a:latin typeface="Calibri"/>
              </a:rPr>
              <a:t>Usa a função de ativação tanh para extrair representações intermediárias não lineares. 64 foi o melhor valor encontrado no Grid Search.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E1E1E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4682"/>
                </a:solidFill>
                <a:latin typeface="Calibri"/>
              </a:rPr>
              <a:t>Camada de Saída — 26 neurônios: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E1E1E"/>
                </a:solidFill>
                <a:latin typeface="Calibri"/>
              </a:rPr>
              <a:t>Um neurônio por letra (A–Z). O de maior ativação indica a predição: argmax(tanh(z2)) → índice → chr(65 + índice). W2 (64×26), b2 (1×26).</a:t>
            </a:r>
          </a:p>
        </p:txBody>
      </p:sp>
      <p:pic>
        <p:nvPicPr>
          <p:cNvPr id="4" name="Picture 3" descr="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856232"/>
            <a:ext cx="5394960" cy="4224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19271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1E0F8B-1377-0F05-DB82-0F19986176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565F75-2D3F-15B6-E90F-DB9499132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Feedforward</a:t>
            </a:r>
            <a:r>
              <a:rPr lang="pt-BR" dirty="0"/>
              <a:t> e cálculo do erro da rede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749808" y="1856232"/>
            <a:ext cx="5394960" cy="4224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04682"/>
                </a:solidFill>
                <a:latin typeface="Calibri"/>
              </a:rPr>
              <a:t>Feedforward: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E1E1E"/>
                </a:solidFill>
                <a:latin typeface="Calibri"/>
              </a:rPr>
              <a:t>z1 = X·W1 + b1 (pré-ativação oculta). f1 = tanh(z1) (ativação oculta). z2 = f1·W2 + b2 (pré-ativação saída). saída = tanh(z2). Cada passagem propaga os 120 pixels até 26 saídas.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E1E1E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4682"/>
                </a:solidFill>
                <a:latin typeface="Calibri"/>
              </a:rPr>
              <a:t>Cálculo do erro (Loss):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E1E1E"/>
                </a:solidFill>
                <a:latin typeface="Calibri"/>
              </a:rPr>
              <a:t>Combina MSE (Erro Quadrático Médio) entre a saída tanh e o rótulo one-hot com regularização L2 (λ=0.001). O MSE penaliza o quadrado da diferença; a L2 penaliza pesos grandes para reduzir overfitting.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E1E1E"/>
                </a:solidFill>
                <a:latin typeface="Calibri"/>
              </a:rPr>
              <a:t/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E1E1E"/>
                </a:solidFill>
                <a:latin typeface="Calibri"/>
              </a:rPr>
              <a:t>E = (1/N)·Σ(saída – y_onehot)²  +  λ·(||W1||² + ||W2||²)</a:t>
            </a:r>
          </a:p>
        </p:txBody>
      </p:sp>
      <p:pic>
        <p:nvPicPr>
          <p:cNvPr id="4" name="Picture 3" descr="s3_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856232"/>
            <a:ext cx="5394960" cy="4224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96351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09B906-7641-3D8A-FE62-49A834D47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02E496-A31F-6DCD-FFE5-6273B26A9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Backpropagation</a:t>
            </a:r>
            <a:r>
              <a:rPr lang="pt-BR" dirty="0"/>
              <a:t> – cálculo do erro para retropropagação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749808" y="1856232"/>
            <a:ext cx="5394960" cy="4224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04682"/>
                </a:solidFill>
                <a:latin typeface="Calibri"/>
              </a:rPr>
              <a:t>Backpropagation – Camada de Saída: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E1E1E"/>
                </a:solidFill>
                <a:latin typeface="Calibri"/>
              </a:rPr>
              <a:t>O sinal de erro é calculado como δ₂ = (2/m)·(saída − y_true)·(1 − saída²). O fator (1 − saída²) é a derivada da tanh avaliada na saída, necessária pela regra da cadeia.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E1E1E"/>
                </a:solidFill>
                <a:latin typeface="Calibri"/>
              </a:rPr>
              <a:t/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E1E1E"/>
                </a:solidFill>
                <a:latin typeface="Calibri"/>
              </a:rPr>
              <a:t>δ₂ = (2/m) · (saída – y_true) · (1 – saída²)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E1E1E"/>
                </a:solidFill>
                <a:latin typeface="Calibri"/>
              </a:rPr>
              <a:t/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E1E1E"/>
                </a:solidFill>
                <a:latin typeface="Calibri"/>
              </a:rPr>
              <a:t>dW2 = f1ᵀ · δ₂  +  λ·W2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E1E1E"/>
                </a:solidFill>
                <a:latin typeface="Calibri"/>
              </a:rPr>
              <a:t>dB2 = média(δ₂)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E1E1E"/>
                </a:solidFill>
                <a:latin typeface="Calibri"/>
              </a:rPr>
              <a:t/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E1E1E"/>
                </a:solidFill>
                <a:latin typeface="Calibri"/>
              </a:rPr>
              <a:t>O termo λ·W2 é a contribuição da regularização L2 ao gradiente. Sem ele os pesos poderiam crescer indefinidamente. O bias b2 é atualizado pela média de δ₂ sobre o batch.</a:t>
            </a:r>
          </a:p>
        </p:txBody>
      </p:sp>
      <p:pic>
        <p:nvPicPr>
          <p:cNvPr id="4" name="Picture 3" descr="s4_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856232"/>
            <a:ext cx="5394960" cy="4224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69090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837714-9F48-9953-157E-6F8629E47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537690-A631-E682-D8E7-05BCE2D41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Backpropagation</a:t>
            </a:r>
            <a:r>
              <a:rPr lang="pt-BR" dirty="0"/>
              <a:t> – contribuição do erro na camada escondida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749808" y="1856232"/>
            <a:ext cx="5394960" cy="4224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04682"/>
                </a:solidFill>
                <a:latin typeface="Calibri"/>
              </a:rPr>
              <a:t>Backpropagation – Camada Oculta: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E1E1E"/>
                </a:solidFill>
                <a:latin typeface="Calibri"/>
              </a:rPr>
              <a:t>O erro é retropropagado da camada de saída multiplicando δ₂ pela transposta de W2. O resultado é então multiplicado elemento a elemento pela derivada da tanh em z1, que é (1 − f1²), onde f1 foi obtido no feedforward.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E1E1E"/>
                </a:solidFill>
                <a:latin typeface="Calibri"/>
              </a:rPr>
              <a:t/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E1E1E"/>
                </a:solidFill>
                <a:latin typeface="Calibri"/>
              </a:rPr>
              <a:t>δ₁ = (δ₂ · W2ᵀ) ⊙ (1 – f1²)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E1E1E"/>
                </a:solidFill>
                <a:latin typeface="Calibri"/>
              </a:rPr>
              <a:t/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E1E1E"/>
                </a:solidFill>
                <a:latin typeface="Calibri"/>
              </a:rPr>
              <a:t>dW1 = Xᵀ · δ₁  +  λ·W1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E1E1E"/>
                </a:solidFill>
                <a:latin typeface="Calibri"/>
              </a:rPr>
              <a:t>dB1 = média(δ₁)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E1E1E"/>
                </a:solidFill>
                <a:latin typeface="Calibri"/>
              </a:rPr>
              <a:t/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E1E1E"/>
                </a:solidFill>
                <a:latin typeface="Calibri"/>
              </a:rPr>
              <a:t>Esse processo garante que os pesos de todas as camadas sejam ajustados na direção que minimiza o erro total, mesmo que não estejam diretamente conectados à saída.</a:t>
            </a:r>
          </a:p>
        </p:txBody>
      </p:sp>
      <p:pic>
        <p:nvPicPr>
          <p:cNvPr id="4" name="Picture 3" descr="s5_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856232"/>
            <a:ext cx="5394960" cy="4224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42979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DCBC2F-5FC1-958B-9D32-F6C5B2B65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Atualização de pesos sinápticos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749808" y="1856232"/>
            <a:ext cx="5394960" cy="4224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04682"/>
                </a:solidFill>
                <a:latin typeface="Calibri"/>
              </a:rPr>
              <a:t>Atualização dos pesos — Gradiente Descendente: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E1E1E"/>
                </a:solidFill>
                <a:latin typeface="Calibri"/>
              </a:rPr>
              <a:t>Cada peso é reduzido na direção do gradiente multiplicado pela taxa de aprendizado η. A atualização é aplicada a cada época usando todo o batch de treinamento (Batch Gradient Descent).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E1E1E"/>
                </a:solidFill>
                <a:latin typeface="Calibri"/>
              </a:rPr>
              <a:t/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E1E1E"/>
                </a:solidFill>
                <a:latin typeface="Calibri"/>
              </a:rPr>
              <a:t>W  ←  W – η · dW      b  ←  b – η · db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E1E1E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4682"/>
                </a:solidFill>
                <a:latin typeface="Calibri"/>
              </a:rPr>
              <a:t>Melhor valor de η = 0.015 (encontrado pelo Grid Search):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E1E1E"/>
                </a:solidFill>
                <a:latin typeface="Calibri"/>
              </a:rPr>
              <a:t>Valores maiores causaram instabilidade ou parada antecipada prematura em alguns modelos. Valores menores (0.010) convergiram mais devagar e tiveram val_acc inferior. η=0.015 com hidden=64 produziu o melhor equilíbrio entre velocidade e qualidade.</a:t>
            </a:r>
          </a:p>
        </p:txBody>
      </p:sp>
      <p:pic>
        <p:nvPicPr>
          <p:cNvPr id="4" name="Picture 3" descr="s6_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856232"/>
            <a:ext cx="5394960" cy="4224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070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3ECE08-2961-92DE-4FB6-D03645621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Resposta de reconhecimento de caractere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749808" y="1856232"/>
            <a:ext cx="5394960" cy="4224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04682"/>
                </a:solidFill>
                <a:latin typeface="Calibri"/>
              </a:rPr>
              <a:t>Predição do caractere: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E1E1E"/>
                </a:solidFill>
                <a:latin typeface="Calibri"/>
              </a:rPr>
              <a:t>Após o feedforward, a rede produz um vetor de 26 valores. O índice do maior valor (argmax) determina a classe predita. Esse índice é convertido para a letra usando chr(65 + índice): 0→'A', 25→'Z'.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E1E1E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4682"/>
                </a:solidFill>
                <a:latin typeface="Calibri"/>
              </a:rPr>
              <a:t>Rótulo one-hot no treinamento: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E1E1E"/>
                </a:solidFill>
                <a:latin typeface="Calibri"/>
              </a:rPr>
              <a:t>O alvo é um vetor onde apenas o neurônio da letra correta vale 1 e os demais valem 0. O MSE compara esse vetor com a saída tanh(z2). Isso força a rede a ativar fortemente o neurônio correto e suprimir os demais.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E1E1E"/>
                </a:solidFill>
                <a:latin typeface="Calibri"/>
              </a:rPr>
              <a:t/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E1E1E"/>
                </a:solidFill>
                <a:latin typeface="Calibri"/>
              </a:rPr>
              <a:t>letra 'A'  →  [1, 0, 0, …, 0]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E1E1E"/>
                </a:solidFill>
                <a:latin typeface="Calibri"/>
              </a:rPr>
              <a:t>letra 'N'  →  [0, 0, …, 1, …, 0]  (posição 13)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E1E1E"/>
                </a:solidFill>
                <a:latin typeface="Calibri"/>
              </a:rPr>
              <a:t/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E1E1E"/>
                </a:solidFill>
                <a:latin typeface="Calibri"/>
              </a:rPr>
              <a:t>Acurácia final no conjunto de teste: 84,59%  (266 amostras)</a:t>
            </a:r>
          </a:p>
        </p:txBody>
      </p:sp>
      <p:pic>
        <p:nvPicPr>
          <p:cNvPr id="4" name="Picture 3" descr="s7_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856232"/>
            <a:ext cx="5394960" cy="4224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0042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E88192-2ACA-3EBE-E51E-459FAB72A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Determinação de parâmetros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749808" y="1856232"/>
            <a:ext cx="5394960" cy="4224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04682"/>
                </a:solidFill>
                <a:latin typeface="Calibri"/>
              </a:rPr>
              <a:t>Grid Search — como os parâmetros são determinados: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E1E1E"/>
                </a:solidFill>
                <a:latin typeface="Calibri"/>
              </a:rPr>
              <a:t>Testamos combinações de hidden_neurons, epochs e learning_rate com l2=0.001 e patience=40 fixos. Cada combinação treinou do zero e foi avaliada pela acurácia de validação. Os melhores parâmetros foram então usados para treinar o modelo final.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E1E1E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4682"/>
                </a:solidFill>
                <a:latin typeface="Calibri"/>
              </a:rPr>
              <a:t>Parâmetros testados: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E1E1E"/>
                </a:solidFill>
                <a:latin typeface="Calibri"/>
              </a:rPr>
              <a:t>hidden: [50, 64]  |  epochs: [7000, 8000]  |  lr: [0.015]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E1E1E"/>
                </a:solidFill>
                <a:latin typeface="Calibri"/>
              </a:rPr>
              <a:t>l2: 0.001 (fixo)  |  patience: 40 (fixo)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E1E1E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4682"/>
                </a:solidFill>
                <a:latin typeface="Calibri"/>
              </a:rPr>
              <a:t>Parâmetro mais crítico: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E1E1E"/>
                </a:solidFill>
                <a:latin typeface="Calibri"/>
              </a:rPr>
              <a:t>O número de neurônios ocultos influencia tanto o tempo quanto a acurácia. hidden=64 com 8000 épocas alcançou val_acc=84.85% em 16.94s, parando na época 7290. Aumentar hidden demais não garante melhora — o overfitting pode surgir.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E1E1E"/>
                </a:solidFill>
                <a:latin typeface="Calibri"/>
              </a:rPr>
              <a:t/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E1E1E"/>
                </a:solidFill>
                <a:latin typeface="Calibri"/>
              </a:rPr>
              <a:t>Melhor: hidden=64 | lr=0.015 | epochs=8000 → test_acc=84,59%</a:t>
            </a:r>
          </a:p>
        </p:txBody>
      </p:sp>
      <p:pic>
        <p:nvPicPr>
          <p:cNvPr id="4" name="Picture 3" descr="s8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856232"/>
            <a:ext cx="5394960" cy="4224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2487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DCF6C9-D4E4-A0F3-62A5-83E4DCAD8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8F06A54A-5E63-05F6-99F4-76C36213D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Dinâmica de treinamento e teste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749808" y="1856232"/>
            <a:ext cx="10972800" cy="4224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04682"/>
                </a:solidFill>
                <a:latin typeface="Calibri"/>
              </a:rPr>
              <a:t>Dinâmica de Treinamento — Tempos e Configuração de Hardware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E1E1E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4682"/>
                </a:solidFill>
                <a:latin typeface="Calibri"/>
              </a:rPr>
              <a:t>Ambiente de execução: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E1E1E"/>
                </a:solidFill>
                <a:latin typeface="Calibri"/>
              </a:rPr>
              <a:t>CPU: processador x86-64 (sem GPU) — implementação 100% NumPy, sem frameworks de deep learning. Sistema operacional: Windows 11. Python 3.x + NumPy.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E1E1E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4682"/>
                </a:solidFill>
                <a:latin typeface="Calibri"/>
              </a:rPr>
              <a:t>Tabela de experimentos — Grid Search (dados reais):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E1E1E"/>
                </a:solidFill>
                <a:latin typeface="Calibri"/>
              </a:rPr>
              <a:t>hidden=64 | epochs=8000 | lr=0.015  →  tempo: 16.94s | épocas reais: 7290 | val_acc: 84.85%  ← MELHOR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E1E1E"/>
                </a:solidFill>
                <a:latin typeface="Calibri"/>
              </a:rPr>
              <a:t>hidden=50 | epochs=8000 | lr=0.015  →  tempo: 16.27s | épocas reais: 7936 | val_acc: 83.33%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E1E1E"/>
                </a:solidFill>
                <a:latin typeface="Calibri"/>
              </a:rPr>
              <a:t>hidden=50 | epochs=7000 | lr=0.015  →  tempo: 13.98s | épocas reais: 7000 | val_acc: 78.79%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E1E1E"/>
                </a:solidFill>
                <a:latin typeface="Calibri"/>
              </a:rPr>
              <a:t>hidden=64 | epochs=7000 | lr=0.015  →  tempo: 19.01s | épocas reais: 7000 | val_acc: 78.03%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E1E1E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4682"/>
                </a:solidFill>
                <a:latin typeface="Calibri"/>
              </a:rPr>
              <a:t>Análise: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E1E1E"/>
                </a:solidFill>
                <a:latin typeface="Calibri"/>
              </a:rPr>
              <a:t>O tempo de execução é dominado pelo número de épocas reais e pelo tamanho da camada oculta. A parada antecipada reduziu de 8000 para 7290 épocas no melhor modelo, economizando ~10% do tempo. Modelos que não pararam antecipadamente (ex: hidden=50, 7000 épocas) levaram menos tempo total mas tiveram pior acurácia — indicando que não convergiram totalmente.</a:t>
            </a:r>
          </a:p>
        </p:txBody>
      </p:sp>
    </p:spTree>
    <p:extLst>
      <p:ext uri="{BB962C8B-B14F-4D97-AF65-F5344CB8AC3E}">
        <p14:creationId xmlns:p14="http://schemas.microsoft.com/office/powerpoint/2010/main" val="14523526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47C314-E96B-D952-8692-8C65F4058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50F489-5475-2B0C-E3EC-D4008A1DA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Treinamento e parada antecipada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749808" y="1856232"/>
            <a:ext cx="5394960" cy="4224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04682"/>
                </a:solidFill>
                <a:latin typeface="Calibri"/>
              </a:rPr>
              <a:t>Divisão dos dados: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E1E1E"/>
                </a:solidFill>
                <a:latin typeface="Calibri"/>
              </a:rPr>
              <a:t>Treino: 70%  |  Validação: 10%  |  Teste: 20%  (seed=42, embaralhado). A normalização min-max é calculada exclusivamente sobre o treino e aplicada igualmente à validação e ao teste para evitar vazamento de dados.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E1E1E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4682"/>
                </a:solidFill>
                <a:latin typeface="Calibri"/>
              </a:rPr>
              <a:t>Melhor execução — hidden=64, lr=0.015, epochs=8000: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E1E1E"/>
                </a:solidFill>
                <a:latin typeface="Calibri"/>
              </a:rPr>
              <a:t>Parada antecipada na época 7290 (patience=40). val_loss mínimo = 0.1178. train_acc = 94.83% | val_acc = 84.85% | test_acc = 84.59%.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E1E1E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4682"/>
                </a:solidFill>
                <a:latin typeface="Calibri"/>
              </a:rPr>
              <a:t>Como a parada antecipada atua: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E1E1E"/>
                </a:solidFill>
                <a:latin typeface="Calibri"/>
              </a:rPr>
              <a:t>A cada época, a rede avalia o val_loss. Se ele não melhorar por 40 épocas consecutivas, os pesos do melhor ponto são restaurados e o treino para. Isso captura o momento de melhor generalização antes que o overfitting se instale.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E1E1E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4682"/>
                </a:solidFill>
                <a:latin typeface="Calibri"/>
              </a:rPr>
              <a:t>Convergência dos pesos: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E1E1E"/>
                </a:solidFill>
                <a:latin typeface="Calibri"/>
              </a:rPr>
              <a:t>Quando o val_loss estabiliza, os gradientes ficam próximos de zero e os pesos param de mudar significativamente. A parada antecipada identifica esse ponto automaticamente.</a:t>
            </a:r>
          </a:p>
        </p:txBody>
      </p:sp>
      <p:pic>
        <p:nvPicPr>
          <p:cNvPr id="4" name="Picture 3" descr="s10_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856232"/>
            <a:ext cx="5394960" cy="4224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7069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C343D0-DADA-D3E1-3E69-8B44AABB7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2171D1-069D-C11F-066A-DF60D4F32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Parada antecipada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749808" y="1856232"/>
            <a:ext cx="5394960" cy="4224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04682"/>
                </a:solidFill>
                <a:latin typeface="Calibri"/>
              </a:rPr>
              <a:t>Observações nos gráficos de loss: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E1E1E"/>
                </a:solidFill>
                <a:latin typeface="Calibri"/>
              </a:rPr>
              <a:t>hidden=50, lr=0.015, epochs=7000: convergência sem parada antecipada — val_loss decresce em todas as épocas mas não chegou ao ótimo (val_acc=78.79%). hidden=64, lr=0.015, epochs=8000: parada na época 7290, val_loss mínimo=0.1178, melhor generalização (val_acc=84.85%).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E1E1E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4682"/>
                </a:solidFill>
                <a:latin typeface="Calibri"/>
              </a:rPr>
              <a:t>Como dificultar o experimento: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E1E1E"/>
                </a:solidFill>
                <a:latin typeface="Calibri"/>
              </a:rPr>
              <a:t>Usar os conjuntos com ruído do dataset (caracteres-ruido.csv, caracteres_ruido20.csv) no treino e o limpo na validação amplifica a divergência entre as curvas de treino e validação, tornando o comportamento da parada antecipada muito mais evidente.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E1E1E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4682"/>
                </a:solidFill>
                <a:latin typeface="Calibri"/>
              </a:rPr>
              <a:t>Outra estratégia — classes ambíguas: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E1E1E"/>
                </a:solidFill>
                <a:latin typeface="Calibri"/>
              </a:rPr>
              <a:t>Mesclar letras visualmente similares (D/O, I/J, U/V) aumenta a ambiguidade do problema. O val_loss oscila mais, o modelo demora mais para convergir, e a parada antecipada passa a ter papel decisivo no resultado final.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E1E1E"/>
                </a:solidFill>
                <a:latin typeface="Calibri"/>
              </a:rPr>
              <a:t/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E1E1E"/>
                </a:solidFill>
                <a:latin typeface="Calibri"/>
              </a:rPr>
              <a:t>Em todos os experimentos o erro minimizado é o MSE somado à regularização L2 (λ=0.001).</a:t>
            </a:r>
          </a:p>
        </p:txBody>
      </p:sp>
      <p:pic>
        <p:nvPicPr>
          <p:cNvPr id="4" name="Picture 3" descr="s11_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856232"/>
            <a:ext cx="5394960" cy="4224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9878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FCE639-40C7-26F4-FAF6-2A9172776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707D1C-B652-BE9D-3125-CC1940C34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Matriz de confusão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749808" y="1856232"/>
            <a:ext cx="5394960" cy="4224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04682"/>
                </a:solidFill>
                <a:latin typeface="Calibri"/>
              </a:rPr>
              <a:t>Modelo final — teste (84,59%):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E1E1E"/>
                </a:solidFill>
                <a:latin typeface="Calibri"/>
              </a:rPr>
              <a:t>A matriz de confusão revela quais letras a rede acerta e confunde. Letras com traços distintivos (A, G, H, N, W) têm recall próximo a 100%. As maiores confusões ocorrem entre letras visualmente similares.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E1E1E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4682"/>
                </a:solidFill>
                <a:latin typeface="Calibri"/>
              </a:rPr>
              <a:t>Principais confusões observadas: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E1E1E"/>
                </a:solidFill>
                <a:latin typeface="Calibri"/>
              </a:rPr>
              <a:t>O ↔ Q (formas circulares fechadas). E ↔ F (traços horizontais em comum). I ↔ J (hastes verticais parecidas). C ↔ G (arco com/sem gancho). U ↔ V (formas em 'v').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E1E1E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4682"/>
                </a:solidFill>
                <a:latin typeface="Calibri"/>
              </a:rPr>
              <a:t>Validação Cruzada K=5: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E1E1E"/>
                </a:solidFill>
                <a:latin typeface="Calibri"/>
              </a:rPr>
              <a:t>Acurácia média: 84.77%  |  Desvio padrão: ±2.02%. O baixo desvio indica que o modelo é estável e generaliza de forma consistente em diferentes partições dos dados.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E1E1E"/>
                </a:solidFill>
                <a:latin typeface="Calibri"/>
              </a:rPr>
              <a:t/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E1E1E"/>
                </a:solidFill>
                <a:latin typeface="Calibri"/>
              </a:rPr>
              <a:t>Para gerar uma segunda matriz de confusão sem parada antecipada: definir patience=9999 e comparar com os resultados acima.</a:t>
            </a:r>
          </a:p>
        </p:txBody>
      </p:sp>
      <p:pic>
        <p:nvPicPr>
          <p:cNvPr id="4" name="Picture 3" descr="cm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856232"/>
            <a:ext cx="5394960" cy="4224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36458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2C9137-7C24-34B8-1E6D-443FD012E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Implementações adicionais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749808" y="1856232"/>
            <a:ext cx="10972800" cy="4224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04682"/>
                </a:solidFill>
                <a:latin typeface="Calibri"/>
              </a:rPr>
              <a:t>Regularização L2  (λ = 0.001):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E1E1E"/>
                </a:solidFill>
                <a:latin typeface="Calibri"/>
              </a:rPr>
              <a:t>Adicionada à função de perda como λ·(||W1||²+||W2||²) e aos gradientes dos pesos. Penaliza pesos grandes, forçando a rede a generalizar melhor. Sem L2, o modelo pode memorizar o treino e ter desempenho ruim no teste.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E1E1E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4682"/>
                </a:solidFill>
                <a:latin typeface="Calibri"/>
              </a:rPr>
              <a:t>Inicialização Xavier Uniform: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E1E1E"/>
                </a:solidFill>
                <a:latin typeface="Calibri"/>
              </a:rPr>
              <a:t>Pesos inicializados em [-limit, +limit] onde limit = √(6/(n_in+n_out)). Garante variância adequada dos gradientes desde a primeira época, evitando saturação da tanh e acelerando a convergência.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E1E1E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4682"/>
                </a:solidFill>
                <a:latin typeface="Calibri"/>
              </a:rPr>
              <a:t>Normalização Min-Max (sem data leakage):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E1E1E"/>
                </a:solidFill>
                <a:latin typeface="Calibri"/>
              </a:rPr>
              <a:t>As estatísticas (min, max) são calculadas exclusivamente sobre o conjunto de treino (ou treino de cada fold no K-Fold) e aplicadas igualmente a validação e teste. Isso evita que informações do futuro influenciem o treinamento.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E1E1E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4682"/>
                </a:solidFill>
                <a:latin typeface="Calibri"/>
              </a:rPr>
              <a:t>Grid Search automatizado + Validação Cruzada K=5: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E1E1E"/>
                </a:solidFill>
                <a:latin typeface="Calibri"/>
              </a:rPr>
              <a:t>4 combinações de hiperparâmetros testadas com tabela de resultados incluindo tempo de execução, épocas reais e acurácia de validação. Avaliação robusta com 5 folds usando os melhores parâmetros (hidden=64, lr=0.015, epochs=8000), acurácia média 84.77% ±2.02%.</a:t>
            </a:r>
          </a:p>
        </p:txBody>
      </p:sp>
    </p:spTree>
    <p:extLst>
      <p:ext uri="{BB962C8B-B14F-4D97-AF65-F5344CB8AC3E}">
        <p14:creationId xmlns:p14="http://schemas.microsoft.com/office/powerpoint/2010/main" val="7704609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99000"/>
                <a:satMod val="140000"/>
              </a:schemeClr>
            </a:gs>
            <a:gs pos="65000">
              <a:schemeClr val="bg2">
                <a:tint val="100000"/>
                <a:shade val="80000"/>
                <a:satMod val="130000"/>
              </a:schemeClr>
            </a:gs>
            <a:gs pos="100000">
              <a:schemeClr val="bg2">
                <a:tint val="100000"/>
                <a:shade val="48000"/>
                <a:satMod val="120000"/>
              </a:schemeClr>
            </a:gs>
          </a:gsLst>
          <a:lin ang="162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75AF58-6F2F-FE6D-73E6-FBD413FBF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2C0B2E1-0268-42EC-ABD3-94F81A05BC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2256B4-48EA-40FC-BBC0-AA1EE6E008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D44BCCA-102D-4A9D-B1E4-2450CAF0B0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8C6E698C-8155-4B8B-BDC9-B7299772B5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EEF5601-A8BC-411D-AA64-3E79320BA1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458473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3209156-242F-4B26-8D07-CEB2B68A9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4734" y="0"/>
            <a:ext cx="760726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Subtítulo 2">
            <a:extLst>
              <a:ext uri="{FF2B5EF4-FFF2-40B4-BE49-F238E27FC236}">
                <a16:creationId xmlns:a16="http://schemas.microsoft.com/office/drawing/2014/main" id="{6FAF23DA-4DA0-2379-A0D4-4E80F2EEAA56}"/>
              </a:ext>
            </a:extLst>
          </p:cNvPr>
          <p:cNvSpPr txBox="1">
            <a:spLocks/>
          </p:cNvSpPr>
          <p:nvPr/>
        </p:nvSpPr>
        <p:spPr>
          <a:xfrm>
            <a:off x="4893170" y="1739107"/>
            <a:ext cx="6987234" cy="443905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400" kern="1200" cap="all" spc="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>
                <a:solidFill>
                  <a:srgbClr val="FFFFFF"/>
                </a:solidFill>
              </a:rPr>
              <a:t>No. USP – nome integrante 1 </a:t>
            </a:r>
            <a:r>
              <a:rPr lang="en-US" sz="2800" i="1">
                <a:solidFill>
                  <a:srgbClr val="FFFFFF"/>
                </a:solidFill>
              </a:rPr>
              <a:t>apresentador</a:t>
            </a:r>
          </a:p>
          <a:p>
            <a:r>
              <a:rPr lang="en-US" sz="2800">
                <a:solidFill>
                  <a:srgbClr val="FFFFFF"/>
                </a:solidFill>
              </a:rPr>
              <a:t>No. USP – nome integrante 2</a:t>
            </a:r>
          </a:p>
          <a:p>
            <a:r>
              <a:rPr lang="en-US" sz="2800">
                <a:solidFill>
                  <a:srgbClr val="FFFFFF"/>
                </a:solidFill>
              </a:rPr>
              <a:t>No. USP – nome integrante 3</a:t>
            </a:r>
          </a:p>
          <a:p>
            <a:r>
              <a:rPr lang="en-US" sz="2800">
                <a:solidFill>
                  <a:srgbClr val="FFFFFF"/>
                </a:solidFill>
              </a:rPr>
              <a:t>No. USP – nome integrante 4</a:t>
            </a:r>
          </a:p>
          <a:p>
            <a:r>
              <a:rPr lang="en-US" sz="2800">
                <a:solidFill>
                  <a:srgbClr val="FFFFFF"/>
                </a:solidFill>
              </a:rPr>
              <a:t>No. USP – nome integrante 5 </a:t>
            </a:r>
            <a:r>
              <a:rPr lang="en-US" sz="2800" i="1">
                <a:solidFill>
                  <a:srgbClr val="FFFFFF"/>
                </a:solidFill>
              </a:rPr>
              <a:t>apresentadorA</a:t>
            </a:r>
          </a:p>
          <a:p>
            <a:r>
              <a:rPr lang="en-US" sz="2800">
                <a:solidFill>
                  <a:srgbClr val="FFFFFF"/>
                </a:solidFill>
              </a:rPr>
              <a:t>No. USP – nome integrante 6</a:t>
            </a:r>
          </a:p>
          <a:p>
            <a:endParaRPr lang="en-US" sz="2800">
              <a:solidFill>
                <a:srgbClr val="FFFFFF"/>
              </a:solidFill>
            </a:endParaRPr>
          </a:p>
          <a:p>
            <a:endParaRPr lang="en-US" sz="2000" dirty="0">
              <a:solidFill>
                <a:srgbClr val="FFFFFF"/>
              </a:solidFill>
            </a:endParaRPr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30996BF9-7E96-9BA3-855E-0909607DB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841" y="736600"/>
            <a:ext cx="4230617" cy="49276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6800" dirty="0">
                <a:solidFill>
                  <a:srgbClr val="FFFFFF"/>
                </a:solidFill>
              </a:rPr>
              <a:t>MLP</a:t>
            </a:r>
            <a:br>
              <a:rPr lang="en-US" sz="6800" dirty="0">
                <a:solidFill>
                  <a:srgbClr val="FFFFFF"/>
                </a:solidFill>
              </a:rPr>
            </a:br>
            <a:br>
              <a:rPr lang="en-US" sz="6800" dirty="0">
                <a:solidFill>
                  <a:srgbClr val="FFFFFF"/>
                </a:solidFill>
              </a:rPr>
            </a:br>
            <a:br>
              <a:rPr lang="en-US" sz="6800" dirty="0">
                <a:solidFill>
                  <a:srgbClr val="FFFFFF"/>
                </a:solidFill>
              </a:rPr>
            </a:br>
            <a:r>
              <a:rPr lang="en-US" sz="4400" dirty="0" err="1">
                <a:solidFill>
                  <a:srgbClr val="FFFFFF"/>
                </a:solidFill>
              </a:rPr>
              <a:t>Implementações</a:t>
            </a:r>
            <a:endParaRPr lang="en-US" sz="68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31811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4682"/>
                </a:solidFill>
                <a:latin typeface="Calibri"/>
              </a:rPr>
              <a:t>Análise Detalhada da Matriz de Confusão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856232"/>
            <a:ext cx="5394960" cy="4224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04682"/>
                </a:solidFill>
                <a:latin typeface="Calibri"/>
              </a:rPr>
              <a:t>Acurácia por letra (conjunto de teste):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E1E1E"/>
                </a:solidFill>
                <a:latin typeface="Calibri"/>
              </a:rPr>
              <a:t>O gráfico ao lado mostra a acurácia individual por classe. Barras azuis indicam acurácia ≥90% (excelente), verdes indicam 70–90% (bom) e laranjas &lt;70% (difícil). A linha tracejada marca a acurácia média geral de 84,59%.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E1E1E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4682"/>
                </a:solidFill>
                <a:latin typeface="Calibri"/>
              </a:rPr>
              <a:t>Letras com 100% de acerto: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E1E1E"/>
                </a:solidFill>
                <a:latin typeface="Calibri"/>
              </a:rPr>
              <a:t>Letras com padrões muito distintos como A, G, H, N, W são reconhecidas perfeitamente. Elas possuem combinações únicas de pixels que não se sobrepõem com outras classes.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E1E1E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4682"/>
                </a:solidFill>
                <a:latin typeface="Calibri"/>
              </a:rPr>
              <a:t>Letras mais difíceis: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E1E1E"/>
                </a:solidFill>
                <a:latin typeface="Calibri"/>
              </a:rPr>
              <a:t>As letras com menor acurácia são aquelas com formas similares a outras no dataset. O modelo confunde principalmente O/Q, E/F, I/J — letras que diferem por apenas 1 ou 2 pixels no padrão 8×15 usado.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E1E1E"/>
                </a:solidFill>
                <a:latin typeface="Calibri"/>
              </a:rPr>
              <a:t/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E1E1E"/>
                </a:solidFill>
                <a:latin typeface="Calibri"/>
              </a:rPr>
              <a:t>O dataset CARACTERES usa padrões binários 8×15 (120 pixels). Letras similares nesse grid são naturalmente mais difíceis de distinguir.</a:t>
            </a:r>
          </a:p>
        </p:txBody>
      </p:sp>
      <p:pic>
        <p:nvPicPr>
          <p:cNvPr id="4" name="Picture 3" descr="cm_err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856232"/>
            <a:ext cx="5394960" cy="422452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4682"/>
                </a:solidFill>
                <a:latin typeface="Calibri"/>
              </a:rPr>
              <a:t>Validação Cruzada K-Fold (K=5) — Resultados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856232"/>
            <a:ext cx="5394960" cy="4224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04682"/>
                </a:solidFill>
                <a:latin typeface="Calibri"/>
              </a:rPr>
              <a:t>Objetivo da validação cruzada: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E1E1E"/>
                </a:solidFill>
                <a:latin typeface="Calibri"/>
              </a:rPr>
              <a:t>Avaliar se o modelo generaliza de forma estável ou se o resultado depende da divisão específica dos dados. Com K=5, cada fold usa 80% para treino e 20% para validação, rodando os melhores hiperparâmetros do Grid Search.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E1E1E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4682"/>
                </a:solidFill>
                <a:latin typeface="Calibri"/>
              </a:rPr>
              <a:t>Configuração por fold: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E1E1E"/>
                </a:solidFill>
                <a:latin typeface="Calibri"/>
              </a:rPr>
              <a:t>hidden=64 | lr=0.015 | epochs=8000 | l2=0.001 | patience=40. A normalização é recalculada dentro de cada fold para evitar data leakage. Mesma seed (random_state=42) para reproducibilidade.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E1E1E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4682"/>
                </a:solidFill>
                <a:latin typeface="Calibri"/>
              </a:rPr>
              <a:t>Resultados: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E1E1E"/>
                </a:solidFill>
                <a:latin typeface="Calibri"/>
              </a:rPr>
              <a:t>Fold 1: 86.47% em 22.81s (7975 épocas reais)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E1E1E"/>
                </a:solidFill>
                <a:latin typeface="Calibri"/>
              </a:rPr>
              <a:t>Fold 2: 82.64% em 22.97s (8000 épocas — sem parada antecipada)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E1E1E"/>
                </a:solidFill>
                <a:latin typeface="Calibri"/>
              </a:rPr>
              <a:t>Fold 3: 87.17% em 21.82s (7237 épocas reais)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E1E1E"/>
                </a:solidFill>
                <a:latin typeface="Calibri"/>
              </a:rPr>
              <a:t>Fold 4: 83.02% em 20.28s (7076 épocas reais)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E1E1E"/>
                </a:solidFill>
                <a:latin typeface="Calibri"/>
              </a:rPr>
              <a:t>Fold 5: 84.53% em 22.48s (8000 épocas — sem parada antecipada)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E1E1E"/>
                </a:solidFill>
                <a:latin typeface="Calibri"/>
              </a:rPr>
              <a:t/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E1E1E"/>
                </a:solidFill>
                <a:latin typeface="Calibri"/>
              </a:rPr>
              <a:t>Média: 84.77%  |  Desvio padrão: ±2.02%</a:t>
            </a:r>
          </a:p>
        </p:txBody>
      </p:sp>
      <p:pic>
        <p:nvPicPr>
          <p:cNvPr id="4" name="Picture 3" descr="kfold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856232"/>
            <a:ext cx="5394960" cy="422452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Retrospectiva">
  <a:themeElements>
    <a:clrScheme name="Retrospectiva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iva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iv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75</TotalTime>
  <Words>1036</Words>
  <Application>Microsoft Office PowerPoint</Application>
  <PresentationFormat>Widescreen</PresentationFormat>
  <Paragraphs>75</Paragraphs>
  <Slides>14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Retrospectiva</vt:lpstr>
      <vt:lpstr>MLP   Implementações</vt:lpstr>
      <vt:lpstr>Estruturas de dados e programação</vt:lpstr>
      <vt:lpstr>Feedforward e cálculo do erro da rede</vt:lpstr>
      <vt:lpstr>Backpropagation – cálculo do erro para retropropagação</vt:lpstr>
      <vt:lpstr>Backpropagation – contribuição do erro na camada escondida</vt:lpstr>
      <vt:lpstr>Atualização de pesos sinápticos</vt:lpstr>
      <vt:lpstr>Resposta de reconhecimento de caractere</vt:lpstr>
      <vt:lpstr>Determinação de parâmetros</vt:lpstr>
      <vt:lpstr>Dinâmica de treinamento e teste</vt:lpstr>
      <vt:lpstr>Treinamento e parada antecipada</vt:lpstr>
      <vt:lpstr>Parada antecipada</vt:lpstr>
      <vt:lpstr>Matriz de confusão</vt:lpstr>
      <vt:lpstr>Implementações adicionais</vt:lpstr>
      <vt:lpstr>MLP   Implementações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Sarajane Peres</dc:creator>
  <cp:lastModifiedBy>Sarajane Peres</cp:lastModifiedBy>
  <cp:revision>13</cp:revision>
  <dcterms:created xsi:type="dcterms:W3CDTF">2025-04-25T19:54:16Z</dcterms:created>
  <dcterms:modified xsi:type="dcterms:W3CDTF">2026-05-23T20:39:28Z</dcterms:modified>
</cp:coreProperties>
</file>